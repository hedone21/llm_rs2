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096E32-81BE-4731-8D6A-81FA3A50A0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E1C4E6-B660-453C-8801-BC2D97A3A4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CA8A0F-A0A4-47E0-A2BE-159ECE4586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6D8EE8-D05B-4170-9378-E6539E60D1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FCE6CB-F601-4930-BF9C-87630E9388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49C852-E6A1-43B7-8CD3-9FB3846BB7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350711-392B-4D52-9F40-1E35D82510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6F6FAC-E864-41B0-95BF-2D89C82EE4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D24E35-B4AE-4287-BEA1-FEC377863F2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D33EA5-3303-4989-A189-E1EDDCC7E2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338877-2525-412B-89B7-BDDEFF580F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548640" y="274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System </a:t>
            </a: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Architecture </a:t>
            </a: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— D-Bus IPC </a:t>
            </a: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Component </a:t>
            </a: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Diagram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548640" y="731520"/>
            <a:ext cx="11063880" cy="12240"/>
          </a:xfrm>
          <a:prstGeom prst="rect">
            <a:avLst/>
          </a:prstGeom>
          <a:solidFill>
            <a:srgbClr val="B0B0B0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48640" y="82296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Manager(org.llm.Manager1)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가 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시스템 리소스를 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모니터링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/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분석하여 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LLM(Antigravity)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에 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D-Bus 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Signal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을 단방향 전달한다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365760" y="1554480"/>
            <a:ext cx="2011320" cy="4571640"/>
          </a:xfrm>
          <a:prstGeom prst="rect">
            <a:avLst/>
          </a:prstGeom>
          <a:solidFill>
            <a:srgbClr val="FFFFFF"/>
          </a:solidFill>
          <a:ln>
            <a:solidFill>
              <a:srgbClr val="9999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365760" y="16052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A2A2A"/>
                </a:solidFill>
                <a:effectLst/>
                <a:uFillTx/>
                <a:latin typeface="Arial"/>
              </a:rPr>
              <a:t>Data Sources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391320" y="1874520"/>
            <a:ext cx="1960560" cy="6120"/>
          </a:xfrm>
          <a:prstGeom prst="rect">
            <a:avLst/>
          </a:prstGeom>
          <a:solidFill>
            <a:srgbClr val="B0B0B0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8520" rIns="90000" bIns="-38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442080" y="205740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92840" y="2070000"/>
            <a:ext cx="17571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/proc/meminfo</a:t>
            </a:r>
            <a:r>
              <a:rPr lang="zh-CN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또는 리눅스 커널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442080" y="253296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492840" y="254556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/proc/pressure/*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442080" y="300852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92840" y="302112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/proc/stat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442080" y="348372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492840" y="349668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/sys/class/devfreq/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5"/>
          <p:cNvSpPr/>
          <p:nvPr/>
        </p:nvSpPr>
        <p:spPr>
          <a:xfrm>
            <a:off x="442080" y="395928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492840" y="397188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thermal_zone*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17"/>
          <p:cNvSpPr/>
          <p:nvPr/>
        </p:nvSpPr>
        <p:spPr>
          <a:xfrm>
            <a:off x="442080" y="443484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18"/>
          <p:cNvSpPr/>
          <p:nvPr/>
        </p:nvSpPr>
        <p:spPr>
          <a:xfrm>
            <a:off x="492840" y="444744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thermald (D-Bus)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19"/>
          <p:cNvSpPr/>
          <p:nvPr/>
        </p:nvSpPr>
        <p:spPr>
          <a:xfrm>
            <a:off x="442080" y="491040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492840" y="492300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UPower (D-Bus)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21"/>
          <p:cNvSpPr/>
          <p:nvPr/>
        </p:nvSpPr>
        <p:spPr>
          <a:xfrm>
            <a:off x="442080" y="5385960"/>
            <a:ext cx="1859040" cy="365400"/>
          </a:xfrm>
          <a:prstGeom prst="roundRect">
            <a:avLst>
              <a:gd name="adj" fmla="val 6000"/>
            </a:avLst>
          </a:prstGeom>
          <a:solidFill>
            <a:srgbClr val="EDEDED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492840" y="5398560"/>
            <a:ext cx="175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Consolas"/>
              </a:rPr>
              <a:t>/sys/class/power_supply/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Connector 23"/>
          <p:cNvCxnSpPr/>
          <p:nvPr/>
        </p:nvCxnSpPr>
        <p:spPr>
          <a:xfrm>
            <a:off x="2428200" y="3840480"/>
            <a:ext cx="355680" cy="360"/>
          </a:xfrm>
          <a:prstGeom prst="straightConnector1">
            <a:avLst/>
          </a:prstGeom>
          <a:ln w="19050">
            <a:solidFill>
              <a:srgbClr val="4D4D4D"/>
            </a:solidFill>
            <a:round/>
            <a:tailEnd len="med" type="triangle" w="med"/>
          </a:ln>
        </p:spPr>
      </p:cxnSp>
      <p:sp>
        <p:nvSpPr>
          <p:cNvPr id="84" name="Rectangle 24"/>
          <p:cNvSpPr/>
          <p:nvPr/>
        </p:nvSpPr>
        <p:spPr>
          <a:xfrm>
            <a:off x="2834640" y="1554480"/>
            <a:ext cx="3017160" cy="4571640"/>
          </a:xfrm>
          <a:prstGeom prst="rect">
            <a:avLst/>
          </a:prstGeom>
          <a:solidFill>
            <a:srgbClr val="F5F5F5"/>
          </a:solidFill>
          <a:ln w="19050">
            <a:solidFill>
              <a:srgbClr val="2A2A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2834640" y="160524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Manager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2834640" y="187452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08080"/>
                </a:solidFill>
                <a:effectLst/>
                <a:uFillTx/>
                <a:latin typeface="Consolas"/>
              </a:rPr>
              <a:t>org.llm.Manager1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27"/>
          <p:cNvSpPr/>
          <p:nvPr/>
        </p:nvSpPr>
        <p:spPr>
          <a:xfrm>
            <a:off x="2885400" y="2103120"/>
            <a:ext cx="2915640" cy="6120"/>
          </a:xfrm>
          <a:prstGeom prst="rect">
            <a:avLst/>
          </a:prstGeom>
          <a:solidFill>
            <a:srgbClr val="B0B0B0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8520" rIns="90000" bIns="-38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28"/>
          <p:cNvSpPr/>
          <p:nvPr/>
        </p:nvSpPr>
        <p:spPr>
          <a:xfrm>
            <a:off x="2936160" y="2286000"/>
            <a:ext cx="281412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3012480" y="232416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1. 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0"/>
          <p:cNvSpPr/>
          <p:nvPr/>
        </p:nvSpPr>
        <p:spPr>
          <a:xfrm>
            <a:off x="3012480" y="250200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시스템 리소스 폴링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/ D-Bus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수신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31"/>
          <p:cNvSpPr/>
          <p:nvPr/>
        </p:nvSpPr>
        <p:spPr>
          <a:xfrm>
            <a:off x="2936160" y="2999160"/>
            <a:ext cx="281412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3012480" y="303732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2. Analyze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3"/>
          <p:cNvSpPr/>
          <p:nvPr/>
        </p:nvSpPr>
        <p:spPr>
          <a:xfrm>
            <a:off x="3012480" y="321516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추세 분석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,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이동 평균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,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변화율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4"/>
          <p:cNvSpPr/>
          <p:nvPr/>
        </p:nvSpPr>
        <p:spPr>
          <a:xfrm>
            <a:off x="2936160" y="3712320"/>
            <a:ext cx="281412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5"/>
          <p:cNvSpPr/>
          <p:nvPr/>
        </p:nvSpPr>
        <p:spPr>
          <a:xfrm>
            <a:off x="3012480" y="375048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3. Predict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6"/>
          <p:cNvSpPr/>
          <p:nvPr/>
        </p:nvSpPr>
        <p:spPr>
          <a:xfrm>
            <a:off x="3012480" y="392832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임계 도달 예측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,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쓰로틀링 예상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37"/>
          <p:cNvSpPr/>
          <p:nvPr/>
        </p:nvSpPr>
        <p:spPr>
          <a:xfrm>
            <a:off x="2936160" y="4425840"/>
            <a:ext cx="281412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8"/>
          <p:cNvSpPr/>
          <p:nvPr/>
        </p:nvSpPr>
        <p:spPr>
          <a:xfrm>
            <a:off x="3012480" y="446364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4. Decide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9"/>
          <p:cNvSpPr/>
          <p:nvPr/>
        </p:nvSpPr>
        <p:spPr>
          <a:xfrm>
            <a:off x="3012480" y="464148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Level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결정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(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히스테리시스 적용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40"/>
          <p:cNvSpPr/>
          <p:nvPr/>
        </p:nvSpPr>
        <p:spPr>
          <a:xfrm>
            <a:off x="2936160" y="5139000"/>
            <a:ext cx="2814120" cy="566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1"/>
          <p:cNvSpPr/>
          <p:nvPr/>
        </p:nvSpPr>
        <p:spPr>
          <a:xfrm>
            <a:off x="3012480" y="517716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5. Signal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2"/>
          <p:cNvSpPr/>
          <p:nvPr/>
        </p:nvSpPr>
        <p:spPr>
          <a:xfrm>
            <a:off x="3012480" y="5355000"/>
            <a:ext cx="2661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D-Bus Signal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발행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Connector 43"/>
          <p:cNvCxnSpPr/>
          <p:nvPr/>
        </p:nvCxnSpPr>
        <p:spPr>
          <a:xfrm>
            <a:off x="5902920" y="3840480"/>
            <a:ext cx="355680" cy="360"/>
          </a:xfrm>
          <a:prstGeom prst="straightConnector1">
            <a:avLst/>
          </a:prstGeom>
          <a:ln>
            <a:solidFill>
              <a:srgbClr val="2A2A2A"/>
            </a:solidFill>
            <a:round/>
            <a:tailEnd len="med" type="triangle" w="med"/>
          </a:ln>
        </p:spPr>
      </p:cxnSp>
      <p:sp>
        <p:nvSpPr>
          <p:cNvPr id="104" name="TextBox 44"/>
          <p:cNvSpPr/>
          <p:nvPr/>
        </p:nvSpPr>
        <p:spPr>
          <a:xfrm>
            <a:off x="5877720" y="3566160"/>
            <a:ext cx="548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D-Bus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5"/>
          <p:cNvSpPr/>
          <p:nvPr/>
        </p:nvSpPr>
        <p:spPr>
          <a:xfrm>
            <a:off x="5801400" y="3850200"/>
            <a:ext cx="54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Signal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46"/>
          <p:cNvSpPr/>
          <p:nvPr/>
        </p:nvSpPr>
        <p:spPr>
          <a:xfrm>
            <a:off x="6309360" y="1554480"/>
            <a:ext cx="1371240" cy="4571640"/>
          </a:xfrm>
          <a:prstGeom prst="rect">
            <a:avLst/>
          </a:prstGeom>
          <a:solidFill>
            <a:srgbClr val="EDEDED"/>
          </a:solidFill>
          <a:ln w="12700">
            <a:solidFill>
              <a:srgbClr val="2A2A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47"/>
          <p:cNvSpPr/>
          <p:nvPr/>
        </p:nvSpPr>
        <p:spPr>
          <a:xfrm>
            <a:off x="6309360" y="16052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A2A2A"/>
                </a:solidFill>
                <a:effectLst/>
                <a:uFillTx/>
                <a:latin typeface="Arial"/>
              </a:rPr>
              <a:t>System Bus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48"/>
          <p:cNvSpPr/>
          <p:nvPr/>
        </p:nvSpPr>
        <p:spPr>
          <a:xfrm>
            <a:off x="6360120" y="1874520"/>
            <a:ext cx="1269720" cy="6120"/>
          </a:xfrm>
          <a:prstGeom prst="rect">
            <a:avLst/>
          </a:prstGeom>
          <a:solidFill>
            <a:srgbClr val="B0B0B0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8520" rIns="90000" bIns="-38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49"/>
          <p:cNvSpPr/>
          <p:nvPr/>
        </p:nvSpPr>
        <p:spPr>
          <a:xfrm>
            <a:off x="6385680" y="2103120"/>
            <a:ext cx="1218960" cy="639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080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50"/>
          <p:cNvSpPr/>
          <p:nvPr/>
        </p:nvSpPr>
        <p:spPr>
          <a:xfrm>
            <a:off x="6410880" y="2153880"/>
            <a:ext cx="116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MemoryPressure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51"/>
          <p:cNvSpPr/>
          <p:nvPr/>
        </p:nvSpPr>
        <p:spPr>
          <a:xfrm>
            <a:off x="6385680" y="3017520"/>
            <a:ext cx="1218960" cy="639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080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52"/>
          <p:cNvSpPr/>
          <p:nvPr/>
        </p:nvSpPr>
        <p:spPr>
          <a:xfrm>
            <a:off x="6410880" y="3068280"/>
            <a:ext cx="116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ComputeGuidance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53"/>
          <p:cNvSpPr/>
          <p:nvPr/>
        </p:nvSpPr>
        <p:spPr>
          <a:xfrm>
            <a:off x="6385680" y="3931920"/>
            <a:ext cx="1218960" cy="639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080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54"/>
          <p:cNvSpPr/>
          <p:nvPr/>
        </p:nvSpPr>
        <p:spPr>
          <a:xfrm>
            <a:off x="6410880" y="3982680"/>
            <a:ext cx="116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ThermalAlert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55"/>
          <p:cNvSpPr/>
          <p:nvPr/>
        </p:nvSpPr>
        <p:spPr>
          <a:xfrm>
            <a:off x="6385680" y="4846320"/>
            <a:ext cx="1218960" cy="639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80808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56"/>
          <p:cNvSpPr/>
          <p:nvPr/>
        </p:nvSpPr>
        <p:spPr>
          <a:xfrm>
            <a:off x="6410880" y="4897080"/>
            <a:ext cx="1168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EnergyConstraint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Connector 57"/>
          <p:cNvCxnSpPr/>
          <p:nvPr/>
        </p:nvCxnSpPr>
        <p:spPr>
          <a:xfrm>
            <a:off x="7731720" y="3840480"/>
            <a:ext cx="355680" cy="360"/>
          </a:xfrm>
          <a:prstGeom prst="straightConnector1">
            <a:avLst/>
          </a:prstGeom>
          <a:ln>
            <a:solidFill>
              <a:srgbClr val="2A2A2A"/>
            </a:solidFill>
            <a:round/>
            <a:tailEnd len="med" type="triangle" w="med"/>
          </a:ln>
        </p:spPr>
      </p:cxnSp>
      <p:sp>
        <p:nvSpPr>
          <p:cNvPr id="118" name="Rectangle 58"/>
          <p:cNvSpPr/>
          <p:nvPr/>
        </p:nvSpPr>
        <p:spPr>
          <a:xfrm>
            <a:off x="8138160" y="1554480"/>
            <a:ext cx="3657240" cy="4571640"/>
          </a:xfrm>
          <a:prstGeom prst="rect">
            <a:avLst/>
          </a:prstGeom>
          <a:solidFill>
            <a:srgbClr val="F5F5F5"/>
          </a:solidFill>
          <a:ln w="19050">
            <a:solidFill>
              <a:srgbClr val="2A2A2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59"/>
          <p:cNvSpPr/>
          <p:nvPr/>
        </p:nvSpPr>
        <p:spPr>
          <a:xfrm>
            <a:off x="8138160" y="1605240"/>
            <a:ext cx="36572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LLM Server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0"/>
          <p:cNvSpPr/>
          <p:nvPr/>
        </p:nvSpPr>
        <p:spPr>
          <a:xfrm>
            <a:off x="8138160" y="18745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Signal </a:t>
            </a:r>
            <a:r>
              <a:rPr lang="zh-CN" sz="9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수신 → 자율적 최적 동작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61"/>
          <p:cNvSpPr/>
          <p:nvPr/>
        </p:nvSpPr>
        <p:spPr>
          <a:xfrm>
            <a:off x="8188920" y="2103120"/>
            <a:ext cx="3555720" cy="6120"/>
          </a:xfrm>
          <a:prstGeom prst="rect">
            <a:avLst/>
          </a:prstGeom>
          <a:solidFill>
            <a:srgbClr val="B0B0B0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8520" rIns="90000" bIns="-385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62"/>
          <p:cNvSpPr/>
          <p:nvPr/>
        </p:nvSpPr>
        <p:spPr>
          <a:xfrm>
            <a:off x="8239680" y="2286000"/>
            <a:ext cx="345420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63"/>
          <p:cNvSpPr/>
          <p:nvPr/>
        </p:nvSpPr>
        <p:spPr>
          <a:xfrm>
            <a:off x="8316000" y="2324160"/>
            <a:ext cx="330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KV Cache Eviction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4"/>
          <p:cNvSpPr/>
          <p:nvPr/>
        </p:nvSpPr>
        <p:spPr>
          <a:xfrm>
            <a:off x="8316000" y="250200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메모리 확보를 위한 캐시 축소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5"/>
          <p:cNvSpPr/>
          <p:nvPr/>
        </p:nvSpPr>
        <p:spPr>
          <a:xfrm>
            <a:off x="8316000" y="266688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B0B0B0"/>
                </a:solidFill>
                <a:effectLst/>
                <a:uFillTx/>
                <a:latin typeface="Consolas"/>
              </a:rPr>
              <a:t>← MemoryPressure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66"/>
          <p:cNvSpPr/>
          <p:nvPr/>
        </p:nvSpPr>
        <p:spPr>
          <a:xfrm>
            <a:off x="8239680" y="3173040"/>
            <a:ext cx="345420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67"/>
          <p:cNvSpPr/>
          <p:nvPr/>
        </p:nvSpPr>
        <p:spPr>
          <a:xfrm>
            <a:off x="8316000" y="3211200"/>
            <a:ext cx="330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Backend Switch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68"/>
          <p:cNvSpPr/>
          <p:nvPr/>
        </p:nvSpPr>
        <p:spPr>
          <a:xfrm>
            <a:off x="8316000" y="338904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CPU ↔ GPU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동적 전환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69"/>
          <p:cNvSpPr/>
          <p:nvPr/>
        </p:nvSpPr>
        <p:spPr>
          <a:xfrm>
            <a:off x="8316000" y="355392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B0B0B0"/>
                </a:solidFill>
                <a:effectLst/>
                <a:uFillTx/>
                <a:latin typeface="Consolas"/>
              </a:rPr>
              <a:t>← ComputeGuidance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70"/>
          <p:cNvSpPr/>
          <p:nvPr/>
        </p:nvSpPr>
        <p:spPr>
          <a:xfrm>
            <a:off x="8239680" y="4060080"/>
            <a:ext cx="345420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71"/>
          <p:cNvSpPr/>
          <p:nvPr/>
        </p:nvSpPr>
        <p:spPr>
          <a:xfrm>
            <a:off x="8316000" y="4097880"/>
            <a:ext cx="330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Quality Adjustment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2"/>
          <p:cNvSpPr/>
          <p:nvPr/>
        </p:nvSpPr>
        <p:spPr>
          <a:xfrm>
            <a:off x="8316000" y="427572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Sampling,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토큰 수 제한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73"/>
          <p:cNvSpPr/>
          <p:nvPr/>
        </p:nvSpPr>
        <p:spPr>
          <a:xfrm>
            <a:off x="8316000" y="444096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B0B0B0"/>
                </a:solidFill>
                <a:effectLst/>
                <a:uFillTx/>
                <a:latin typeface="Consolas"/>
              </a:rPr>
              <a:t>← ThermalAlert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74"/>
          <p:cNvSpPr/>
          <p:nvPr/>
        </p:nvSpPr>
        <p:spPr>
          <a:xfrm>
            <a:off x="8239680" y="4946760"/>
            <a:ext cx="3454200" cy="712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75"/>
          <p:cNvSpPr/>
          <p:nvPr/>
        </p:nvSpPr>
        <p:spPr>
          <a:xfrm>
            <a:off x="8316000" y="4984920"/>
            <a:ext cx="330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Inference Control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76"/>
          <p:cNvSpPr/>
          <p:nvPr/>
        </p:nvSpPr>
        <p:spPr>
          <a:xfrm>
            <a:off x="8316000" y="516276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속도 제한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,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일시 중단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,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거부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77"/>
          <p:cNvSpPr/>
          <p:nvPr/>
        </p:nvSpPr>
        <p:spPr>
          <a:xfrm>
            <a:off x="8316000" y="5328000"/>
            <a:ext cx="330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700" b="0" u="none" strike="noStrike">
                <a:solidFill>
                  <a:srgbClr val="B0B0B0"/>
                </a:solidFill>
                <a:effectLst/>
                <a:uFillTx/>
                <a:latin typeface="Consolas"/>
              </a:rPr>
              <a:t>← EnergyConstraint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78"/>
          <p:cNvSpPr/>
          <p:nvPr/>
        </p:nvSpPr>
        <p:spPr>
          <a:xfrm>
            <a:off x="548640" y="6400800"/>
            <a:ext cx="5623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Consolas"/>
              </a:rPr>
              <a:t>Bus: System Bus  |  Interface: org.llm.Manager1  |  Direction: Manager → LLM (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Consolas"/>
              </a:rPr>
              <a:t>단방향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Consolas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548640" y="2743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A1A1A"/>
                </a:solidFill>
                <a:effectLst/>
                <a:uFillTx/>
                <a:latin typeface="Arial"/>
              </a:rPr>
              <a:t>D-Bus Signal Specification — org.llm.Manager1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2"/>
          <p:cNvSpPr/>
          <p:nvPr/>
        </p:nvSpPr>
        <p:spPr>
          <a:xfrm>
            <a:off x="548640" y="731520"/>
            <a:ext cx="11063880" cy="12240"/>
          </a:xfrm>
          <a:prstGeom prst="rect">
            <a:avLst/>
          </a:prstGeom>
          <a:solidFill>
            <a:srgbClr val="B0B0B0"/>
          </a:solidFill>
          <a:ln w="6350">
            <a:solidFill>
              <a:srgbClr val="B0B0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2400" rIns="90000" bIns="-324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48640" y="82296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4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개 시그널 상세 정의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. 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모든 시그널은 공통 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level(normal / warning / critical / emergency) </a:t>
            </a:r>
            <a:r>
              <a:rPr lang="zh-CN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인자를 포함한다</a:t>
            </a:r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2" name="Table 4"/>
          <p:cNvGraphicFramePr/>
          <p:nvPr/>
        </p:nvGraphicFramePr>
        <p:xfrm>
          <a:off x="457200" y="1280160"/>
          <a:ext cx="11246760" cy="523944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548640"/>
                <a:gridCol w="3657600"/>
                <a:gridCol w="3108960"/>
              </a:tblGrid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Signal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Argument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Type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Description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LLM Response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</a:rPr>
                        <a:t>MemoryPressure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1A1A1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80808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OOM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직전 경고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. KV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캐시를 줄여야 하는 상황을 안내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level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normal | warning | critical | emergency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warning: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보수적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eviction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준비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available_bytes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현재 사용 가능한 메모리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(bytes)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critical: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적극적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KV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캐시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eviction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reclaim_target_bytes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LLM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이 확보해야 하는 메모리 양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(Manager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산출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emergency: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긴급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eviction +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신규 추론 거부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</a:rPr>
                        <a:t>ComputeGuidance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1A1A1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80808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CPU/GPU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병목 감지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.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어떤 연산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HW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를 사용할지 가이드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level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normal | warning | critical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warning: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권장 백엔드로 전환 준비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recommended_backend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cpu | gpu | any (Manager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권장 백엔드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critical: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즉시 백엔드 전환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+ KV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캐시 마이그레이션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reason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cpu_bottleneck | gpu_bottleneck | cpu_available | gpu_available | both_loaded | balanced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both_loaded: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추론 속도 제한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(throttle)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cpu_usage_pct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d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시스템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CPU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사용률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(0.0 ~ 100.0)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gpu_usage_pct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d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GPU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사용률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(0.0 ~ 100.0)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</a:rPr>
                        <a:t>ThermalAlert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1A1A1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80808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발열 쓰로틀링 발생 예측 및 실제 발생 상황을 안내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level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normal | warning | critical | emergency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warning: GPU→CPU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전환 검토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,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부하 경감 준비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temperature_mc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i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현재 온도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(millidegrees Celsius, 75000 = 75.0℃)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critical: GPU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중지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,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품질 하향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throttling_active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b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HW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쓰로틀링이 현재 발생 중인지 여부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emergency: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추론 일시 중단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(pause)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throttle_ratio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d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성능 비율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(1.0 =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정상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, 0.5 =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절반 성능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Arial"/>
                        </a:rPr>
                        <a:t>EnergyConstraint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1A1A1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808080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에너지 소모 경고 및 전력 예산 안내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800" b="0" u="none" strike="noStrike">
                        <a:solidFill>
                          <a:srgbClr val="4D4D4D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level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normal | warning | critical | emergency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warning: GPU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사용 자제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, budget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내 동작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reason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battery_low | battery_critical | power_limit | thermal_power | charging | none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critical: CPU only,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최소 품질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,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토큰 제한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F9F9"/>
                    </a:solidFill>
                  </a:tcPr>
                </a:tc>
              </a:tr>
              <a:tr h="260280">
                <a:tc>
                  <a:txBody>
                    <a:bodyPr lIns="50760" tIns="25200" rIns="50760" bIns="25200" anchor="ctr">
                      <a:noAutofit/>
                    </a:bodyPr>
                    <a:p>
                      <a:endParaRPr lang="en-US" sz="900" b="0" u="none" strike="noStrike">
                        <a:solidFill>
                          <a:srgbClr val="2A2A2A"/>
                        </a:solidFill>
                        <a:effectLst/>
                        <a:uFillTx/>
                        <a:latin typeface="Consolas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onsolas"/>
                        </a:rPr>
                        <a:t>power_budget_mw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808080"/>
                          </a:solidFill>
                          <a:effectLst/>
                          <a:uFillTx/>
                          <a:latin typeface="Consolas"/>
                        </a:rPr>
                        <a:t>u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허용 전력 예산 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(milliwatts, 0 =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무제한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0760" tIns="25200" rIns="507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emergency: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신규 추론 거부</a:t>
                      </a:r>
                      <a:r>
                        <a:rPr lang="en-US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, </a:t>
                      </a:r>
                      <a:r>
                        <a:rPr lang="zh-CN" sz="800" b="0" u="none" strike="noStrike">
                          <a:solidFill>
                            <a:srgbClr val="4D4D4D"/>
                          </a:solidFill>
                          <a:effectLst/>
                          <a:uFillTx/>
                          <a:latin typeface="Arial"/>
                        </a:rPr>
                        <a:t>진행 중 추론 종료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43" name="TextBox 5"/>
          <p:cNvSpPr/>
          <p:nvPr/>
        </p:nvSpPr>
        <p:spPr>
          <a:xfrm>
            <a:off x="457200" y="6537960"/>
            <a:ext cx="1124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Level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공통 규약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: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상향 전이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(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악화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)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즉시 반응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|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하향 전이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(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회복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)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지연 허용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| normal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수신 시 모든 제약 해제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| Manager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미연결 시 </a:t>
            </a:r>
            <a:r>
              <a:rPr lang="en-US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normal </a:t>
            </a:r>
            <a:r>
              <a:rPr lang="zh-CN" sz="8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간주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LibreOffice/26.2.0.3$Linux_X86_64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2026-02-26T21:56:45Z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